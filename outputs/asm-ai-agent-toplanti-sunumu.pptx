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e745abaa6845c5" /><Relationship Type="http://schemas.openxmlformats.org/officeDocument/2006/relationships/extended-properties" Target="/docProps/app.xml" Id="R3f8749a9af504452" /><Relationship Type="http://schemas.openxmlformats.org/officeDocument/2006/relationships/officeDocument" Target="/ppt/presentation.xml" Id="R85816fc150d9467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192c82a68a4b1e"/>
  </p:sldMasterIdLst>
  <p:notesMasterIdLst>
    <p:notesMasterId xmlns:r="http://schemas.openxmlformats.org/officeDocument/2006/relationships" r:id="Ra3ef4f8e5f6d4831"/>
  </p:notesMasterIdLst>
  <p:sldIdLst>
    <p:sldId xmlns:r="http://schemas.openxmlformats.org/officeDocument/2006/relationships" id="256" r:id="R4c07a4c4f2c9465c"/>
    <p:sldId xmlns:r="http://schemas.openxmlformats.org/officeDocument/2006/relationships" id="257" r:id="R2311e92871f5449c"/>
    <p:sldId xmlns:r="http://schemas.openxmlformats.org/officeDocument/2006/relationships" id="258" r:id="Rcf06c47385b1418b"/>
    <p:sldId xmlns:r="http://schemas.openxmlformats.org/officeDocument/2006/relationships" id="259" r:id="R3ba9bd6477c045a4"/>
    <p:sldId xmlns:r="http://schemas.openxmlformats.org/officeDocument/2006/relationships" id="260" r:id="Rddb41acad5264691"/>
    <p:sldId xmlns:r="http://schemas.openxmlformats.org/officeDocument/2006/relationships" id="261" r:id="Rcb618f7d58644d69"/>
    <p:sldId xmlns:r="http://schemas.openxmlformats.org/officeDocument/2006/relationships" id="262" r:id="R60616629a17f4e18"/>
    <p:sldId xmlns:r="http://schemas.openxmlformats.org/officeDocument/2006/relationships" id="263" r:id="R3e01dedf7f144d45"/>
    <p:sldId xmlns:r="http://schemas.openxmlformats.org/officeDocument/2006/relationships" id="264" r:id="R8ff0777a0ecf43a7"/>
    <p:sldId xmlns:r="http://schemas.openxmlformats.org/officeDocument/2006/relationships" id="265" r:id="Rdd230dc0d25848b4"/>
    <p:sldId xmlns:r="http://schemas.openxmlformats.org/officeDocument/2006/relationships" id="266" r:id="Rd9d55736de1b4316"/>
    <p:sldId xmlns:r="http://schemas.openxmlformats.org/officeDocument/2006/relationships" id="267" r:id="Rb053a520a9134189"/>
    <p:sldId xmlns:r="http://schemas.openxmlformats.org/officeDocument/2006/relationships" id="268" r:id="Rbdc737c8672c4916"/>
    <p:sldId xmlns:r="http://schemas.openxmlformats.org/officeDocument/2006/relationships" id="269" r:id="R421b7abd0bf04d0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457e7fabdb4495" /><Relationship Type="http://schemas.openxmlformats.org/officeDocument/2006/relationships/slideMaster" Target="/ppt/slideMasters/slideMaster1.xml" Id="R8c192c82a68a4b1e" /><Relationship Type="http://schemas.openxmlformats.org/officeDocument/2006/relationships/notesMaster" Target="/ppt/notesMasters/notesMaster1.xml" Id="Ra3ef4f8e5f6d4831" /><Relationship Type="http://schemas.openxmlformats.org/officeDocument/2006/relationships/presProps" Target="/ppt/presProps.xml" Id="R6710a54db0cd4df5" /><Relationship Type="http://schemas.openxmlformats.org/officeDocument/2006/relationships/tableStyles" Target="/ppt/tableStyles.xml" Id="R1963970ac6404b9f" /><Relationship Type="http://schemas.openxmlformats.org/officeDocument/2006/relationships/slide" Target="/ppt/slides/slide1.xml" Id="R4c07a4c4f2c9465c" /><Relationship Type="http://schemas.openxmlformats.org/officeDocument/2006/relationships/slide" Target="/ppt/slides/slide2.xml" Id="R2311e92871f5449c" /><Relationship Type="http://schemas.openxmlformats.org/officeDocument/2006/relationships/slide" Target="/ppt/slides/slide3.xml" Id="Rcf06c47385b1418b" /><Relationship Type="http://schemas.openxmlformats.org/officeDocument/2006/relationships/slide" Target="/ppt/slides/slide4.xml" Id="R3ba9bd6477c045a4" /><Relationship Type="http://schemas.openxmlformats.org/officeDocument/2006/relationships/slide" Target="/ppt/slides/slide5.xml" Id="Rddb41acad5264691" /><Relationship Type="http://schemas.openxmlformats.org/officeDocument/2006/relationships/slide" Target="/ppt/slides/slide6.xml" Id="Rcb618f7d58644d69" /><Relationship Type="http://schemas.openxmlformats.org/officeDocument/2006/relationships/slide" Target="/ppt/slides/slide7.xml" Id="R60616629a17f4e18" /><Relationship Type="http://schemas.openxmlformats.org/officeDocument/2006/relationships/slide" Target="/ppt/slides/slide8.xml" Id="R3e01dedf7f144d45" /><Relationship Type="http://schemas.openxmlformats.org/officeDocument/2006/relationships/slide" Target="/ppt/slides/slide9.xml" Id="R8ff0777a0ecf43a7" /><Relationship Type="http://schemas.openxmlformats.org/officeDocument/2006/relationships/slide" Target="/ppt/slides/slide10.xml" Id="Rdd230dc0d25848b4" /><Relationship Type="http://schemas.openxmlformats.org/officeDocument/2006/relationships/slide" Target="/ppt/slides/slide11.xml" Id="Rd9d55736de1b4316" /><Relationship Type="http://schemas.openxmlformats.org/officeDocument/2006/relationships/slide" Target="/ppt/slides/slide12.xml" Id="Rb053a520a9134189" /><Relationship Type="http://schemas.openxmlformats.org/officeDocument/2006/relationships/slide" Target="/ppt/slides/slide13.xml" Id="Rbdc737c8672c4916" /><Relationship Type="http://schemas.openxmlformats.org/officeDocument/2006/relationships/slide" Target="/ppt/slides/slide14.xml" Id="R421b7abd0bf04d0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92e5112bbeb46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4676ff3665438b" /><Relationship Type="http://schemas.openxmlformats.org/officeDocument/2006/relationships/notesMaster" Target="/ppt/notesMasters/notesMaster1.xml" Id="R783c0d993c22484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49b5ab79f0448c4" /><Relationship Type="http://schemas.openxmlformats.org/officeDocument/2006/relationships/notesMaster" Target="/ppt/notesMasters/notesMaster1.xml" Id="Rf155ee1122914f2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13ab3eb4dde484e" /><Relationship Type="http://schemas.openxmlformats.org/officeDocument/2006/relationships/notesMaster" Target="/ppt/notesMasters/notesMaster1.xml" Id="R80d0b9ea983a465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4a6ca3012c84c47" /><Relationship Type="http://schemas.openxmlformats.org/officeDocument/2006/relationships/notesMaster" Target="/ppt/notesMasters/notesMaster1.xml" Id="Rd695b46d80604e1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59887878ad64e04" /><Relationship Type="http://schemas.openxmlformats.org/officeDocument/2006/relationships/notesMaster" Target="/ppt/notesMasters/notesMaster1.xml" Id="R4045f736120649d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44dc13b6c5f4859" /><Relationship Type="http://schemas.openxmlformats.org/officeDocument/2006/relationships/notesMaster" Target="/ppt/notesMasters/notesMaster1.xml" Id="R9d6d44ce7831457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ae372e634d84583" /><Relationship Type="http://schemas.openxmlformats.org/officeDocument/2006/relationships/notesMaster" Target="/ppt/notesMasters/notesMaster1.xml" Id="Re29a1c31287a460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cad57d9417c47e6" /><Relationship Type="http://schemas.openxmlformats.org/officeDocument/2006/relationships/notesMaster" Target="/ppt/notesMasters/notesMaster1.xml" Id="Rbb526a827a91422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84add9d0c234eb8" /><Relationship Type="http://schemas.openxmlformats.org/officeDocument/2006/relationships/notesMaster" Target="/ppt/notesMasters/notesMaster1.xml" Id="Rdc9ae327c6f74f4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65c67585aea47bd" /><Relationship Type="http://schemas.openxmlformats.org/officeDocument/2006/relationships/notesMaster" Target="/ppt/notesMasters/notesMaster1.xml" Id="R26a68014b699417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daeca1e16354605" /><Relationship Type="http://schemas.openxmlformats.org/officeDocument/2006/relationships/notesMaster" Target="/ppt/notesMasters/notesMaster1.xml" Id="Re787a46bcd2e432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23ccc2b912a475d" /><Relationship Type="http://schemas.openxmlformats.org/officeDocument/2006/relationships/notesMaster" Target="/ppt/notesMasters/notesMaster1.xml" Id="R223e98da93564a6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830377e883748c7" /><Relationship Type="http://schemas.openxmlformats.org/officeDocument/2006/relationships/notesMaster" Target="/ppt/notesMasters/notesMaster1.xml" Id="Rd503ac66f413426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1b57d1782544c32" /><Relationship Type="http://schemas.openxmlformats.org/officeDocument/2006/relationships/notesMaster" Target="/ppt/notesMasters/notesMaster1.xml" Id="R658b535e12a643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83005b4f4d430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8b7e52c6ed647f6" /><Relationship Type="http://schemas.openxmlformats.org/officeDocument/2006/relationships/slideLayout" Target="/ppt/slideLayouts/slideLayout1.xml" Id="Rfe52583edc1c45e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e52583edc1c45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e54bfa27cf4f77" /><Relationship Type="http://schemas.openxmlformats.org/officeDocument/2006/relationships/notesSlide" Target="/ppt/notesSlides/notesSlide1.xml" Id="R3aacfa73fef34b4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95972efa824d13" /><Relationship Type="http://schemas.openxmlformats.org/officeDocument/2006/relationships/notesSlide" Target="/ppt/notesSlides/notesSlide2.xml" Id="R757b6d07a5ce44f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edfb6df5e64469" /><Relationship Type="http://schemas.openxmlformats.org/officeDocument/2006/relationships/notesSlide" Target="/ppt/notesSlides/notesSlide3.xml" Id="R3543a7912c15423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def79a349e4c92" /><Relationship Type="http://schemas.openxmlformats.org/officeDocument/2006/relationships/notesSlide" Target="/ppt/notesSlides/notesSlide4.xml" Id="Rb8592ee117d24b6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3203d4d804419a" /><Relationship Type="http://schemas.openxmlformats.org/officeDocument/2006/relationships/notesSlide" Target="/ppt/notesSlides/notesSlide5.xml" Id="R925f9a891ace49d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0f37f3cc6e428e" /><Relationship Type="http://schemas.openxmlformats.org/officeDocument/2006/relationships/notesSlide" Target="/ppt/notesSlides/notesSlide6.xml" Id="R9be394c57c7d45a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f5222b2e994f6f" /><Relationship Type="http://schemas.openxmlformats.org/officeDocument/2006/relationships/notesSlide" Target="/ppt/notesSlides/notesSlide7.xml" Id="Ra2432422c03f45b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e191797a2f4a37" /><Relationship Type="http://schemas.openxmlformats.org/officeDocument/2006/relationships/notesSlide" Target="/ppt/notesSlides/notesSlide8.xml" Id="R7d4e2f11ec5343e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e1e133035e48c0" /><Relationship Type="http://schemas.openxmlformats.org/officeDocument/2006/relationships/notesSlide" Target="/ppt/notesSlides/notesSlide9.xml" Id="Rb31caa443c7447d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51743840b14159" /><Relationship Type="http://schemas.openxmlformats.org/officeDocument/2006/relationships/notesSlide" Target="/ppt/notesSlides/notesSlide10.xml" Id="R37fa24a73377405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a840243f93489f" /><Relationship Type="http://schemas.openxmlformats.org/officeDocument/2006/relationships/image" Target="/ppt/media/image.png" Id="Rdb42e3e7b2724015" /><Relationship Type="http://schemas.openxmlformats.org/officeDocument/2006/relationships/image" Target="/ppt/media/image2.png" Id="R74248c87d47648e6" /><Relationship Type="http://schemas.openxmlformats.org/officeDocument/2006/relationships/notesSlide" Target="/ppt/notesSlides/notesSlide11.xml" Id="R9f37050eed6142e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2d963074be4305" /><Relationship Type="http://schemas.openxmlformats.org/officeDocument/2006/relationships/notesSlide" Target="/ppt/notesSlides/notesSlide12.xml" Id="R75a10b6aff8b476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4fc1df53ee42ea" /><Relationship Type="http://schemas.openxmlformats.org/officeDocument/2006/relationships/notesSlide" Target="/ppt/notesSlides/notesSlide13.xml" Id="R85592d2bf4c943a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34b28be7184c95" /><Relationship Type="http://schemas.openxmlformats.org/officeDocument/2006/relationships/notesSlide" Target="/ppt/notesSlides/notesSlide14.xml" Id="Re4062db79afe453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6AC77F-600A-4DE9-8895-741AD5B45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457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Med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A11361-4BF1-4494-8B2C-802DD8D17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657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033"/>
                </a:solidFill>
              </a:defRPr>
            </a:pPr>
            <a:r>
              <a:rPr sz="3600" b="1">
                <a:solidFill>
                  <a:srgbClr val="172033"/>
                </a:solidFill>
              </a:rPr>
              <a:t>Sağlık verisini doğal dille raporlayan ajan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E632E6-65B2-433B-8D5A-6872ADA9C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657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37083"/>
                </a:solidFill>
              </a:defRPr>
            </a:pPr>
            <a:r>
              <a:rPr sz="1725" b="0">
                <a:solidFill>
                  <a:srgbClr val="637083"/>
                </a:solidFill>
              </a:rPr>
              <a:t>Toplantı sunumu | Proje durumu, mimari, doğrulama ve sonraki adımlar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392FC6-1741-49C2-9344-26A810799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62100"/>
            <a:ext cx="28575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BBAE2A-7D67-4ECA-B8CE-946BF6BFC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71650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766E"/>
                </a:solidFill>
              </a:defRPr>
            </a:pPr>
            <a:r>
              <a:rPr sz="2550" b="1">
                <a:solidFill>
                  <a:srgbClr val="0F766E"/>
                </a:solidFill>
              </a:rPr>
              <a:t>1209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E43DAE-0F5B-43F1-B075-61A4EEF68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05050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083"/>
                </a:solidFill>
              </a:defRPr>
            </a:pPr>
            <a:r>
              <a:rPr sz="1275" b="0">
                <a:solidFill>
                  <a:srgbClr val="637083"/>
                </a:solidFill>
              </a:rPr>
              <a:t>Backend testi geçti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41261C-98F4-495A-AE95-1F6CF109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71800"/>
            <a:ext cx="28575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A25BF9-00BF-4B8D-8277-CEFDE7D1C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81350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A34A"/>
                </a:solidFill>
              </a:defRPr>
            </a:pPr>
            <a:r>
              <a:rPr sz="2550" b="1">
                <a:solidFill>
                  <a:srgbClr val="16A34A"/>
                </a:solidFill>
              </a:rPr>
              <a:t>93,8%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B0E802-5159-4ACC-8004-7A045C0E5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14750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083"/>
                </a:solidFill>
              </a:defRPr>
            </a:pPr>
            <a:r>
              <a:rPr sz="1275" b="0">
                <a:solidFill>
                  <a:srgbClr val="637083"/>
                </a:solidFill>
              </a:rPr>
              <a:t>Benchmark başarı oranı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DED5F7-6F56-4CBC-886B-40CD574D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81500"/>
            <a:ext cx="28575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76FDCA-3D93-47AA-A69E-B2315D11F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91050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563EB"/>
                </a:solidFill>
              </a:defRPr>
            </a:pPr>
            <a:r>
              <a:rPr sz="2550" b="1">
                <a:solidFill>
                  <a:srgbClr val="2563EB"/>
                </a:solidFill>
              </a:rPr>
              <a:t>84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21A2E1-17ED-44A3-997A-01C409E08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124450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083"/>
                </a:solidFill>
              </a:defRPr>
            </a:pPr>
            <a:r>
              <a:rPr sz="1275" b="0">
                <a:solidFill>
                  <a:srgbClr val="637083"/>
                </a:solidFill>
              </a:rPr>
              <a:t>Frontend testi geçti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D35FB1-AA29-4D00-B36E-641B204DB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C516CD-DAF6-423F-AA94-9C64D2958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083"/>
                </a:solidFill>
              </a:defRPr>
            </a:pPr>
            <a:r>
              <a:rPr sz="900" b="0">
                <a:solidFill>
                  <a:srgbClr val="637083"/>
                </a:solidFill>
              </a:rPr>
              <a:t>ASM AI Agent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5F326E-5747-439B-A3B8-15F4049AD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37083"/>
                </a:solidFill>
              </a:defRPr>
            </a:pPr>
            <a:r>
              <a:rPr sz="900" b="0">
                <a:solidFill>
                  <a:srgbClr val="637083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075889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61F7A4-6C6A-4E85-B86E-FF869E0A7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BÜYÜK RESİM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D129AC-90FF-4230-9390-6D8F8CB7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334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</a:defRPr>
            </a:pPr>
            <a:r>
              <a:rPr sz="2850" b="1">
                <a:solidFill>
                  <a:srgbClr val="172033"/>
                </a:solidFill>
              </a:rPr>
              <a:t>Proje, veriye soru sormayı herkes için kolaylaştırıyor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BEBB8E-E125-4E3D-BF45-02B3A69D6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3143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5E98EF-4886-42BC-A7EA-81EA51653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7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3E3A0C-5A5C-4392-80E4-177A565FD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6215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Bugünkü sorun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476791-BD8B-46EC-8C40-D82B3B0FB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62200"/>
            <a:ext cx="26860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83"/>
                </a:solidFill>
              </a:defRPr>
            </a:pPr>
            <a:r>
              <a:rPr sz="1350" b="0">
                <a:solidFill>
                  <a:srgbClr val="637083"/>
                </a:solidFill>
              </a:rPr>
              <a:t>Rapor almak için SQL, tablo yapısı ve teknik filtreleri bilmek gerekiyor. Bu da karar alma hızını düşürüyor.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0CECD4-B227-40D5-8B92-5F4E2681B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52600"/>
            <a:ext cx="3143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555F3B-369D-475D-9E48-0DDA3FD80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52600"/>
            <a:ext cx="57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BE599B-D68B-4EE5-B87E-C6477065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196215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Projenin çözümü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F0D1B0-CA61-4081-9C8F-B5473177A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362200"/>
            <a:ext cx="26860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83"/>
                </a:solidFill>
              </a:defRPr>
            </a:pPr>
            <a:r>
              <a:rPr sz="1350" b="0">
                <a:solidFill>
                  <a:srgbClr val="637083"/>
                </a:solidFill>
              </a:rPr>
              <a:t>Kullanıcı normal Türkçe ile soruyor. Ajan doğru veriyi buluyor, güvenli sorgu üretiyor ve anlaşılır sonuç döndürüyor.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417058-7C18-4494-81D4-E6F8C4E79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752600"/>
            <a:ext cx="3143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2BA4D3-82F8-4202-A600-C21272F1A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752600"/>
            <a:ext cx="57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EF454B-84AB-49D0-A98A-2A49636BE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96215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İş değeri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53256F-5BAC-49E7-B18E-438F50210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62200"/>
            <a:ext cx="26860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83"/>
                </a:solidFill>
              </a:defRPr>
            </a:pPr>
            <a:r>
              <a:rPr sz="1350" b="0">
                <a:solidFill>
                  <a:srgbClr val="637083"/>
                </a:solidFill>
              </a:rPr>
              <a:t>Teknik ekip beklemeden randevu, bölüm, doktor ve dönem karşılaştırması gibi sorular hızlıca cevaplanabiliyor.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7FECF0-7862-43D6-9AE7-03948FC2D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76750"/>
            <a:ext cx="990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Basit anlatım: Bu sistem bir veri tercümanı gibi çalışır. Soruyu alır, veritabanının anlayacağı dile çevirir, sonra sonucu insan dilinde açıklar.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BC99AA-4740-46CD-AE11-3282E7ED0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B85DA0-A7DD-4226-98F9-39275C6E9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083"/>
                </a:solidFill>
              </a:defRPr>
            </a:pPr>
            <a:r>
              <a:rPr sz="900" b="0">
                <a:solidFill>
                  <a:srgbClr val="637083"/>
                </a:solidFill>
              </a:rPr>
              <a:t>ASM AI Agent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DFD130-9AD8-4F79-A516-26FD79933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37083"/>
                </a:solidFill>
              </a:defRPr>
            </a:pPr>
            <a:r>
              <a:rPr sz="900" b="0">
                <a:solidFill>
                  <a:srgbClr val="637083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51675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F93AA4-CA4D-4674-B1C8-36112024C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KULLANICI DENEYİMİ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8A14C2-8CBE-4AA6-BDBF-563BC7E4A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334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</a:defRPr>
            </a:pPr>
            <a:r>
              <a:rPr sz="2850" b="1">
                <a:solidFill>
                  <a:srgbClr val="172033"/>
                </a:solidFill>
              </a:rPr>
              <a:t>Kullanıcının gördüğü akış üç adımdan ibaret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A98B7B-169C-49FC-BC62-5AE86B8D0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000375"/>
            <a:ext cx="4572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CF2DB1-530C-4811-9AD2-B37BF9C15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000375"/>
            <a:ext cx="4572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3BB580-C808-4F2A-8A55-A89E0DE0F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000375"/>
            <a:ext cx="4572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9A363B-AD07-481E-A873-DFFA9A45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2764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B39004-C561-42C8-8832-E2F2259B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0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Soru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D786C0-A170-4E49-BBA0-969F9E6C2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05100"/>
            <a:ext cx="19335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37083"/>
                </a:solidFill>
              </a:defRPr>
            </a:pPr>
            <a:r>
              <a:rPr sz="1125" b="0">
                <a:solidFill>
                  <a:srgbClr val="637083"/>
                </a:solidFill>
              </a:rPr>
              <a:t>Bugün en yoğun bölüm hangisi?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566D9F-C6CF-4E27-83CD-B51271046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095500"/>
            <a:ext cx="22764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80964E-DE2A-468C-82C8-A08EFAFE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286000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Güvenli analiz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EDBEDA-5FA5-446C-9C38-43BF8CD77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705100"/>
            <a:ext cx="19335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37083"/>
                </a:solidFill>
              </a:defRPr>
            </a:pPr>
            <a:r>
              <a:rPr sz="1125" b="0">
                <a:solidFill>
                  <a:srgbClr val="637083"/>
                </a:solidFill>
              </a:rPr>
              <a:t>Sistem niyeti, tarihleri ve filtreleri çıkarır.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66780E-2E39-431E-930B-468F3785A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95500"/>
            <a:ext cx="22764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B9BAAD-008E-42E4-88F1-5CFF496C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86000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Veri sorgusu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ABCE99-0449-42C9-AF44-8D3424CD9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05100"/>
            <a:ext cx="19335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37083"/>
                </a:solidFill>
              </a:defRPr>
            </a:pPr>
            <a:r>
              <a:rPr sz="1125" b="0">
                <a:solidFill>
                  <a:srgbClr val="637083"/>
                </a:solidFill>
              </a:rPr>
              <a:t>Yalnızca izinli view üzerinde okuma yapar.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154555-67F5-4533-A4CA-C0FC795E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095500"/>
            <a:ext cx="22764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CEBFF6-6964-40AB-80F4-FDA5E80A1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286000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Anlaşılır cevap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EA060F-ABF2-4A86-A14F-15960F855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705100"/>
            <a:ext cx="19335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37083"/>
                </a:solidFill>
              </a:defRPr>
            </a:pPr>
            <a:r>
              <a:rPr sz="1125" b="0">
                <a:solidFill>
                  <a:srgbClr val="637083"/>
                </a:solidFill>
              </a:rPr>
              <a:t>Sonuç, grafik ve kısa yorum olarak döner.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15C61B-D9D3-4778-B494-1527EB1BA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24400"/>
            <a:ext cx="971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37083"/>
                </a:solidFill>
              </a:defRPr>
            </a:pPr>
            <a:r>
              <a:rPr sz="1725" b="0">
                <a:solidFill>
                  <a:srgbClr val="637083"/>
                </a:solidFill>
              </a:rPr>
              <a:t>Bu yüzden sunumda “LLM, graph, prompt” gibi teknik kavramları merkeze almak yerine, sistemin soruyu nasıl güvenli bir rapora dönüştürdüğünü anlatmak yeterli.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5FFF7E-3F91-4A82-ACD3-5E06EC804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FE47BD-F9D8-45C6-8AB9-E707B1FDF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083"/>
                </a:solidFill>
              </a:defRPr>
            </a:pPr>
            <a:r>
              <a:rPr sz="900" b="0">
                <a:solidFill>
                  <a:srgbClr val="637083"/>
                </a:solidFill>
              </a:rPr>
              <a:t>ASM AI Agent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DEF1B5-5054-44C3-A0B8-28B3EBA21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37083"/>
                </a:solidFill>
              </a:defRPr>
            </a:pPr>
            <a:r>
              <a:rPr sz="900" b="0">
                <a:solidFill>
                  <a:srgbClr val="637083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875286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A68993-AEE7-40DB-B3E9-F34F3C571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MİMARİ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8B3B3E-584C-4502-9085-E272C100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334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</a:defRPr>
            </a:pPr>
            <a:r>
              <a:rPr sz="2850" b="1">
                <a:solidFill>
                  <a:srgbClr val="172033"/>
                </a:solidFill>
              </a:rPr>
              <a:t>Mimari katmanlı kurulduğu için büyütmesi ve denetlemesi kolay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868F7D-61C7-42AB-9909-A9D74C170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4120" y="2876550"/>
            <a:ext cx="4572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CC0415-137F-48C6-BBDC-F05FAEF37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9640" y="2876550"/>
            <a:ext cx="4572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718FDD-B95C-4246-BE97-E480DE574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2876550"/>
            <a:ext cx="4572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EF346B-7904-46C8-8A17-5D4749A60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0680" y="2876550"/>
            <a:ext cx="4572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519ADF-C07F-4A43-B1C5-5B5CD59E9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179832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086024-4C09-4FC6-BD2F-42B875DF4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145542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Arayüz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F3EC3E-1DDE-4555-99D2-C058720F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145542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37083"/>
                </a:solidFill>
              </a:defRPr>
            </a:pPr>
            <a:r>
              <a:rPr sz="1125" b="0">
                <a:solidFill>
                  <a:srgbClr val="637083"/>
                </a:solidFill>
              </a:rPr>
              <a:t>React ekranı, sohbet ve sonuç bileşenleri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1430A2-99DB-449C-B048-78B01AC8C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1320" y="2038350"/>
            <a:ext cx="179832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F41295-FFF5-48BE-9237-35411BF9E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2770" y="2228850"/>
            <a:ext cx="145542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C0DB28-1944-44B4-803E-BC1AEA1C1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2770" y="2647950"/>
            <a:ext cx="145542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37083"/>
                </a:solidFill>
              </a:defRPr>
            </a:pPr>
            <a:r>
              <a:rPr sz="1125" b="0">
                <a:solidFill>
                  <a:srgbClr val="637083"/>
                </a:solidFill>
              </a:rPr>
              <a:t>FastAPI sadece istekleri alır ve yanıtı taşır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73926D-551F-4814-9F46-8F4AC9C70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2038350"/>
            <a:ext cx="179832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E4F6F3-0010-4C04-AE27-EB88C0832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8290" y="2228850"/>
            <a:ext cx="145542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Servisler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4B3C4E-C7EF-451A-BB38-57F64AECB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8290" y="2647950"/>
            <a:ext cx="145542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37083"/>
                </a:solidFill>
              </a:defRPr>
            </a:pPr>
            <a:r>
              <a:rPr sz="1125" b="0">
                <a:solidFill>
                  <a:srgbClr val="637083"/>
                </a:solidFill>
              </a:rPr>
              <a:t>İş akışı, SQL, rapor ve analiz kararları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E9BA6D-6800-42E5-BB80-156F8B7E4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2038350"/>
            <a:ext cx="179832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820210-1D0F-4145-BDFB-7A4AB2FA3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3810" y="2228850"/>
            <a:ext cx="145542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Ajan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C3928C-2E8A-4531-ABB0-A67946C38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3810" y="2647950"/>
            <a:ext cx="145542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37083"/>
                </a:solidFill>
              </a:defRPr>
            </a:pPr>
            <a:r>
              <a:rPr sz="1125" b="0">
                <a:solidFill>
                  <a:srgbClr val="637083"/>
                </a:solidFill>
              </a:rPr>
              <a:t>Adım adım niyet, SQL, kontrol, analiz ve rapor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02F944-084E-4644-B4E1-ABBDE6005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7880" y="2038350"/>
            <a:ext cx="179832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07BD95-EA8A-4DE4-BB7C-BD93764E6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9330" y="2228850"/>
            <a:ext cx="145542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Veri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3B38E7-F19A-497C-A762-26E9255D2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9330" y="2647950"/>
            <a:ext cx="145542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37083"/>
                </a:solidFill>
              </a:defRPr>
            </a:pPr>
            <a:r>
              <a:rPr sz="1125" b="0">
                <a:solidFill>
                  <a:srgbClr val="637083"/>
                </a:solidFill>
              </a:rPr>
              <a:t>Repository ve güvenli SQL katmanı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76DF3E-8A4F-4F3E-859B-ECAAB1D29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0"/>
            <a:ext cx="442912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1327C7-3E53-4BC6-81B6-034091B80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0"/>
            <a:ext cx="57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5F41E5-7996-4B8C-A711-79131FEF4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86300"/>
            <a:ext cx="3971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Neden önemli?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67C7E4-0516-40A2-BA89-24CD8EC48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086350"/>
            <a:ext cx="3971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83"/>
                </a:solidFill>
              </a:defRPr>
            </a:pPr>
            <a:r>
              <a:rPr sz="1350" b="0">
                <a:solidFill>
                  <a:srgbClr val="637083"/>
                </a:solidFill>
              </a:rPr>
              <a:t>API rotalarında iş mantığı yok. LLM çağrıları provider katmanından geçiyor. Veritabanına erişim repository ve execution servisleriyle ayrılmış durumda.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9ABE36-033B-4C66-B310-F5AA339DB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476750"/>
            <a:ext cx="442912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2A640E-170A-4079-9C67-611DD2954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476750"/>
            <a:ext cx="57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DFF249-B9BF-401C-9573-8CF2CCBCC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4686300"/>
            <a:ext cx="3971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Sonuç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86E627-8C56-42D4-9302-2D0E941F3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5086350"/>
            <a:ext cx="3971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83"/>
                </a:solidFill>
              </a:defRPr>
            </a:pPr>
            <a:r>
              <a:rPr sz="1350" b="0">
                <a:solidFill>
                  <a:srgbClr val="637083"/>
                </a:solidFill>
              </a:rPr>
              <a:t>Sistem hem test edilebilir hem de yeni analiz türleri, farklı LLM sağlayıcıları veya farklı UI bileşenleri eklenebilir hale geliyor.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A4B377-6C3C-44EA-AD77-D29E0A6CC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91A333-FB72-4BA8-8C26-F9D866939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083"/>
                </a:solidFill>
              </a:defRPr>
            </a:pPr>
            <a:r>
              <a:rPr sz="900" b="0">
                <a:solidFill>
                  <a:srgbClr val="637083"/>
                </a:solidFill>
              </a:rPr>
              <a:t>ASM AI Agent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1D19BCA-3ED8-4274-B875-E3E1F877B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37083"/>
                </a:solidFill>
              </a:defRPr>
            </a:pPr>
            <a:r>
              <a:rPr sz="900" b="0">
                <a:solidFill>
                  <a:srgbClr val="637083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947541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AF3FD6-BB79-46EF-AB7D-D74AAECB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SİSTEM TOPOLOJİSİ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FF2A28-AB31-49CF-9678-0A97146FF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334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</a:defRPr>
            </a:pPr>
            <a:r>
              <a:rPr sz="2850" b="1">
                <a:solidFill>
                  <a:srgbClr val="172033"/>
                </a:solidFill>
              </a:rPr>
              <a:t>Topoloji, sistemi tek bir blok yerine bağlantılı parçalara ayırıyor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5A6153-736D-4185-B7FB-260280BBC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43250"/>
            <a:ext cx="1238250" cy="-857250"/>
          </a:xfrm>
          <a:prstGeom xmlns:a="http://schemas.openxmlformats.org/drawingml/2006/main" prst="line">
            <a:avLst/>
          </a:prstGeom>
          <a:ln xmlns:a="http://schemas.openxmlformats.org/drawingml/2006/main" w="20955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8F0590-FE53-4246-8078-51EEEB8D7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43250"/>
            <a:ext cx="1238250" cy="0"/>
          </a:xfrm>
          <a:prstGeom xmlns:a="http://schemas.openxmlformats.org/drawingml/2006/main" prst="line">
            <a:avLst/>
          </a:prstGeom>
          <a:ln xmlns:a="http://schemas.openxmlformats.org/drawingml/2006/main" w="20955">
            <a:solidFill>
              <a:srgbClr val="0F766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38B314-5A18-43A1-8E1F-125866DED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43250"/>
            <a:ext cx="1238250" cy="857250"/>
          </a:xfrm>
          <a:prstGeom xmlns:a="http://schemas.openxmlformats.org/drawingml/2006/main" prst="line">
            <a:avLst/>
          </a:prstGeom>
          <a:ln xmlns:a="http://schemas.openxmlformats.org/drawingml/2006/main" w="20955">
            <a:solidFill>
              <a:srgbClr val="0F76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ABAADE-CB65-4319-A3DC-21C86DA57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86000"/>
            <a:ext cx="1428750" cy="0"/>
          </a:xfrm>
          <a:prstGeom xmlns:a="http://schemas.openxmlformats.org/drawingml/2006/main" prst="line">
            <a:avLst/>
          </a:prstGeom>
          <a:ln xmlns:a="http://schemas.openxmlformats.org/drawingml/2006/main" w="20955">
            <a:solidFill>
              <a:srgbClr val="0F76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203FB9-0CE6-4672-9729-D09CE5E04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43250"/>
            <a:ext cx="1428750" cy="0"/>
          </a:xfrm>
          <a:prstGeom xmlns:a="http://schemas.openxmlformats.org/drawingml/2006/main" prst="line">
            <a:avLst/>
          </a:prstGeom>
          <a:ln xmlns:a="http://schemas.openxmlformats.org/drawingml/2006/main" w="20955">
            <a:solidFill>
              <a:srgbClr val="0F76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995E09-DE7E-483D-8C7A-A6DB5F641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000500"/>
            <a:ext cx="1428750" cy="0"/>
          </a:xfrm>
          <a:prstGeom xmlns:a="http://schemas.openxmlformats.org/drawingml/2006/main" prst="line">
            <a:avLst/>
          </a:prstGeom>
          <a:ln xmlns:a="http://schemas.openxmlformats.org/drawingml/2006/main" w="20955">
            <a:solidFill>
              <a:srgbClr val="0F766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27411E-FFBC-437D-8B9A-62EB04952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0"/>
            <a:ext cx="1333500" cy="428625"/>
          </a:xfrm>
          <a:prstGeom xmlns:a="http://schemas.openxmlformats.org/drawingml/2006/main" prst="line">
            <a:avLst/>
          </a:prstGeom>
          <a:ln xmlns:a="http://schemas.openxmlformats.org/drawingml/2006/main" w="20955">
            <a:solidFill>
              <a:srgbClr val="0F7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017BA8-347E-4F36-812F-56491D171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43250"/>
            <a:ext cx="1333500" cy="0"/>
          </a:xfrm>
          <a:prstGeom xmlns:a="http://schemas.openxmlformats.org/drawingml/2006/main" prst="line">
            <a:avLst/>
          </a:prstGeom>
          <a:ln xmlns:a="http://schemas.openxmlformats.org/drawingml/2006/main" w="20955">
            <a:solidFill>
              <a:srgbClr val="0F766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5BBAB7-34B4-4E4C-AA05-1174F065F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00500"/>
            <a:ext cx="1333500" cy="-428625"/>
          </a:xfrm>
          <a:prstGeom xmlns:a="http://schemas.openxmlformats.org/drawingml/2006/main" prst="line">
            <a:avLst/>
          </a:prstGeom>
          <a:ln xmlns:a="http://schemas.openxmlformats.org/drawingml/2006/main" w="20955">
            <a:solidFill>
              <a:srgbClr val="0F766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AA93A8-4B3B-44ED-A674-E3B754171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714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0AE4FF-490F-46E9-95E0-98760E04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Kullanıcı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59B83C-96A6-4450-A6AA-E7E242F77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1409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37083"/>
                </a:solidFill>
              </a:defRPr>
            </a:pPr>
            <a:r>
              <a:rPr sz="1050" b="0">
                <a:solidFill>
                  <a:srgbClr val="637083"/>
                </a:solidFill>
              </a:rPr>
              <a:t>Türkçe soru sorar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79616E-BE97-45B9-B7F1-68CC8B2F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28800"/>
            <a:ext cx="2000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4860FF-424B-4DE4-96EE-2F647DAF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943100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Arayüz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C969A3-E8C8-43D2-88BD-69EF4A803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266950"/>
            <a:ext cx="1695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37083"/>
                </a:solidFill>
              </a:defRPr>
            </a:pPr>
            <a:r>
              <a:rPr sz="1050" b="0">
                <a:solidFill>
                  <a:srgbClr val="637083"/>
                </a:solidFill>
              </a:rPr>
              <a:t>Sohbet, tablo, grafik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A24E43-4C24-4F33-85B0-A5828EE85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86050"/>
            <a:ext cx="2000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FB88EC-A232-4D64-BF53-555A28505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800350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API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4CCA79-3518-4BE0-921C-D0294CE69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124200"/>
            <a:ext cx="1695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37083"/>
                </a:solidFill>
              </a:defRPr>
            </a:pPr>
            <a:r>
              <a:rPr sz="1050" b="0">
                <a:solidFill>
                  <a:srgbClr val="637083"/>
                </a:solidFill>
              </a:rPr>
              <a:t>İstek ve yanıt kapısı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3745FF-D7E5-452C-98F6-B48E69ED0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43300"/>
            <a:ext cx="2000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770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D104FF-87A0-4E22-88FD-CCF7F1EF5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657600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97706"/>
                </a:solidFill>
              </a:defRPr>
            </a:pPr>
            <a:r>
              <a:rPr sz="1350" b="1">
                <a:solidFill>
                  <a:srgbClr val="D97706"/>
                </a:solidFill>
              </a:rPr>
              <a:t>Streaming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DE6400-EB86-45E0-991B-8D565C06B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981450"/>
            <a:ext cx="1695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37083"/>
                </a:solidFill>
              </a:defRPr>
            </a:pPr>
            <a:r>
              <a:rPr sz="1050" b="0">
                <a:solidFill>
                  <a:srgbClr val="637083"/>
                </a:solidFill>
              </a:rPr>
              <a:t>İlerleme aşamaları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2A3882-0662-4558-BF02-A2D4365E5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28800"/>
            <a:ext cx="2000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A67825-8588-40F1-8956-F95E2638A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43100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Ajan grafı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9A0FE2-18BD-4975-B854-438BFFC9B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266950"/>
            <a:ext cx="1695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37083"/>
                </a:solidFill>
              </a:defRPr>
            </a:pPr>
            <a:r>
              <a:rPr sz="1050" b="0">
                <a:solidFill>
                  <a:srgbClr val="637083"/>
                </a:solidFill>
              </a:rPr>
              <a:t>Karar ve iş akışı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174838-D1E8-4F2C-897A-FCBFED34A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86050"/>
            <a:ext cx="2000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C655FC-960B-4665-9772-B3135BA71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00350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Servis katmanı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02CC04-3E55-4D7F-BD75-28FF6C7DF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124200"/>
            <a:ext cx="1695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37083"/>
                </a:solidFill>
              </a:defRPr>
            </a:pPr>
            <a:r>
              <a:rPr sz="1050" b="0">
                <a:solidFill>
                  <a:srgbClr val="637083"/>
                </a:solidFill>
              </a:rPr>
              <a:t>SQL, rapor, analiz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3437D2-756F-4CD2-8987-F076720D9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43300"/>
            <a:ext cx="2000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A34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327E58-945F-4644-8DEB-3CD3E5BBB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57600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A34A"/>
                </a:solidFill>
              </a:defRPr>
            </a:pPr>
            <a:r>
              <a:rPr sz="1350" b="1">
                <a:solidFill>
                  <a:srgbClr val="16A34A"/>
                </a:solidFill>
              </a:rPr>
              <a:t>Provider katmanı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F9D73A-C580-4BD5-BD49-656894E55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981450"/>
            <a:ext cx="1695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37083"/>
                </a:solidFill>
              </a:defRPr>
            </a:pPr>
            <a:r>
              <a:rPr sz="1050" b="0">
                <a:solidFill>
                  <a:srgbClr val="637083"/>
                </a:solidFill>
              </a:rPr>
              <a:t>Yerel veya uzak model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BCB3562-BC84-4800-8F3A-3F0E33CC7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00300"/>
            <a:ext cx="16002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262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B51461B-D10C-4FEC-B290-640659AF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5146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C2626"/>
                </a:solidFill>
              </a:defRPr>
            </a:pPr>
            <a:r>
              <a:rPr sz="1350" b="1">
                <a:solidFill>
                  <a:srgbClr val="DC2626"/>
                </a:solidFill>
              </a:rPr>
              <a:t>Güvenli SQL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2BFCCDC-DF42-42B8-AF11-CA1D36154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838450"/>
            <a:ext cx="129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37083"/>
                </a:solidFill>
              </a:defRPr>
            </a:pPr>
            <a:r>
              <a:rPr sz="1050" b="0">
                <a:solidFill>
                  <a:srgbClr val="637083"/>
                </a:solidFill>
              </a:rPr>
              <a:t>Validator kapısı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A03F624-25B9-42DC-B7C1-DEE2A6B4D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333750"/>
            <a:ext cx="16002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FFF5462-9F60-45DE-9E64-98FEB65F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4480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MSSQL view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1788C95-9D0C-4DFC-96D2-8BECCADB5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771900"/>
            <a:ext cx="129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37083"/>
                </a:solidFill>
              </a:defRPr>
            </a:pPr>
            <a:r>
              <a:rPr sz="1050" b="0">
                <a:solidFill>
                  <a:srgbClr val="637083"/>
                </a:solidFill>
              </a:rPr>
              <a:t>Sadece okuma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B40EE39-B605-47B4-BDBA-9F00A6CCE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143500"/>
            <a:ext cx="9753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Dalların amacı şudur: kullanıcı basit bir soru görür, içeride ise her parça kendi görevini yapar ve riskli adımlar ayrı kapılardan geçer.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12AA270-CFE3-4CC8-95A1-141DC1ED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E10CEDD-A9D3-4DA6-9FA0-5381FBB21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083"/>
                </a:solidFill>
              </a:defRPr>
            </a:pPr>
            <a:r>
              <a:rPr sz="900" b="0">
                <a:solidFill>
                  <a:srgbClr val="637083"/>
                </a:solidFill>
              </a:rPr>
              <a:t>ASM AI Agent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7E29A1B-A635-462D-BC6F-067A0671B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37083"/>
                </a:solidFill>
              </a:defRPr>
            </a:pPr>
            <a:r>
              <a:rPr sz="900" b="0">
                <a:solidFill>
                  <a:srgbClr val="637083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904473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16C83A-1CF9-4220-B6E8-020404D83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KARAR AĞACI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D9D10D-9024-4748-A6F1-4F861651A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334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</a:defRPr>
            </a:pPr>
            <a:r>
              <a:rPr sz="2850" b="1">
                <a:solidFill>
                  <a:srgbClr val="172033"/>
                </a:solidFill>
              </a:rPr>
              <a:t>Ajan önce sorunun türünü seçer, sonra doğru dala gider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D1CDE0-80B2-4FD4-B148-D96DCE5A1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143250"/>
            <a:ext cx="1714500" cy="-1190625"/>
          </a:xfrm>
          <a:prstGeom xmlns:a="http://schemas.openxmlformats.org/drawingml/2006/main" prst="line">
            <a:avLst/>
          </a:prstGeom>
          <a:ln xmlns:a="http://schemas.openxmlformats.org/drawingml/2006/main" w="20955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BD45F0-730F-4749-BE80-D1ECEBCE8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143250"/>
            <a:ext cx="1714500" cy="-285750"/>
          </a:xfrm>
          <a:prstGeom xmlns:a="http://schemas.openxmlformats.org/drawingml/2006/main" prst="line">
            <a:avLst/>
          </a:prstGeom>
          <a:ln xmlns:a="http://schemas.openxmlformats.org/drawingml/2006/main" w="20955">
            <a:solidFill>
              <a:srgbClr val="0F766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AF68D4-654C-4947-8147-38AF35AB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143250"/>
            <a:ext cx="1714500" cy="619125"/>
          </a:xfrm>
          <a:prstGeom xmlns:a="http://schemas.openxmlformats.org/drawingml/2006/main" prst="line">
            <a:avLst/>
          </a:prstGeom>
          <a:ln xmlns:a="http://schemas.openxmlformats.org/drawingml/2006/main" w="20955">
            <a:solidFill>
              <a:srgbClr val="0F76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F93E75-CD29-4733-B6A9-5A640DB8C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143250"/>
            <a:ext cx="1714500" cy="1524000"/>
          </a:xfrm>
          <a:prstGeom xmlns:a="http://schemas.openxmlformats.org/drawingml/2006/main" prst="line">
            <a:avLst/>
          </a:prstGeom>
          <a:ln xmlns:a="http://schemas.openxmlformats.org/drawingml/2006/main" w="20955">
            <a:solidFill>
              <a:srgbClr val="0F76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3F170F-D3DE-4B15-872D-3C48FAEE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2000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C1954E-1946-4C23-9864-BA6DDDE6A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62250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Soru geldi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3F65E6-563B-4F48-B85F-476D3D19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86100"/>
            <a:ext cx="1695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37083"/>
                </a:solidFill>
              </a:defRPr>
            </a:pPr>
            <a:r>
              <a:rPr sz="1050" b="0">
                <a:solidFill>
                  <a:srgbClr val="637083"/>
                </a:solidFill>
              </a:rPr>
              <a:t>Sistem önce niyeti anlar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4E56F6-8635-4396-8B6D-79E48C25A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504950"/>
            <a:ext cx="2190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6BB83B-4130-4C9C-BD8D-7F24B15BD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1619250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Veri sorusu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587BE4-9FD8-4622-A948-DDFA6C989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1943100"/>
            <a:ext cx="1885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37083"/>
                </a:solidFill>
              </a:defRPr>
            </a:pPr>
            <a:r>
              <a:rPr sz="1050" b="0">
                <a:solidFill>
                  <a:srgbClr val="637083"/>
                </a:solidFill>
              </a:rPr>
              <a:t>Rapor akışına girer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6F5421-E4B5-4855-A989-F4989D17A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409825"/>
            <a:ext cx="2190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7F1106-6E07-4876-A45A-1FA9A52DB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2524125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Yardım isteği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037268-FB72-41D9-99E5-3997FE2AB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2847975"/>
            <a:ext cx="1885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37083"/>
                </a:solidFill>
              </a:defRPr>
            </a:pPr>
            <a:r>
              <a:rPr sz="1050" b="0">
                <a:solidFill>
                  <a:srgbClr val="637083"/>
                </a:solidFill>
              </a:rPr>
              <a:t>Kullanım cevabı döner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CE01E6-BC51-4379-AAF2-FCC876D7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314700"/>
            <a:ext cx="2190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A3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BCA35D-27B6-4BD0-93A1-567A3F1E1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3429000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A34A"/>
                </a:solidFill>
              </a:defRPr>
            </a:pPr>
            <a:r>
              <a:rPr sz="1350" b="1">
                <a:solidFill>
                  <a:srgbClr val="16A34A"/>
                </a:solidFill>
              </a:rPr>
              <a:t>Genel sohbet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7B222C-7839-45F4-A22A-65AA5EE84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3752850"/>
            <a:ext cx="1885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37083"/>
                </a:solidFill>
              </a:defRPr>
            </a:pPr>
            <a:r>
              <a:rPr sz="1050" b="0">
                <a:solidFill>
                  <a:srgbClr val="637083"/>
                </a:solidFill>
              </a:rPr>
              <a:t>Kısa yanıt üretilir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282147-3B6D-4BBD-A7A9-AD1662E36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219575"/>
            <a:ext cx="2190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770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0732A8-5568-44C9-95A5-1B0D2BE33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4333875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97706"/>
                </a:solidFill>
              </a:defRPr>
            </a:pPr>
            <a:r>
              <a:rPr sz="1350" b="1">
                <a:solidFill>
                  <a:srgbClr val="D97706"/>
                </a:solidFill>
              </a:rPr>
              <a:t>Belirsiz soru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1E2E1D-1D19-472B-A399-E78A9B015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4657725"/>
            <a:ext cx="1885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37083"/>
                </a:solidFill>
              </a:defRPr>
            </a:pPr>
            <a:r>
              <a:rPr sz="1050" b="0">
                <a:solidFill>
                  <a:srgbClr val="637083"/>
                </a:solidFill>
              </a:rPr>
              <a:t>Netleştirme sorulur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C501D0-3172-412E-9334-D0C3AF88B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943100"/>
            <a:ext cx="1428750" cy="0"/>
          </a:xfrm>
          <a:prstGeom xmlns:a="http://schemas.openxmlformats.org/drawingml/2006/main" prst="line">
            <a:avLst/>
          </a:prstGeom>
          <a:ln xmlns:a="http://schemas.openxmlformats.org/drawingml/2006/main" w="20955">
            <a:solidFill>
              <a:srgbClr val="0F766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B5C3A1-DF8E-4989-B1F9-1A0333486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847975"/>
            <a:ext cx="1428750" cy="0"/>
          </a:xfrm>
          <a:prstGeom xmlns:a="http://schemas.openxmlformats.org/drawingml/2006/main" prst="line">
            <a:avLst/>
          </a:prstGeom>
          <a:ln xmlns:a="http://schemas.openxmlformats.org/drawingml/2006/main" w="20955">
            <a:solidFill>
              <a:srgbClr val="2563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048944-788B-44C2-A368-CAD41B51E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752850"/>
            <a:ext cx="1428750" cy="0"/>
          </a:xfrm>
          <a:prstGeom xmlns:a="http://schemas.openxmlformats.org/drawingml/2006/main" prst="line">
            <a:avLst/>
          </a:prstGeom>
          <a:ln xmlns:a="http://schemas.openxmlformats.org/drawingml/2006/main" w="20955">
            <a:solidFill>
              <a:srgbClr val="16A3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9EBCEE-6555-46F5-BDEB-386DAC791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657725"/>
            <a:ext cx="1428750" cy="0"/>
          </a:xfrm>
          <a:prstGeom xmlns:a="http://schemas.openxmlformats.org/drawingml/2006/main" prst="line">
            <a:avLst/>
          </a:prstGeom>
          <a:ln xmlns:a="http://schemas.openxmlformats.org/drawingml/2006/main" w="20955">
            <a:solidFill>
              <a:srgbClr val="D9770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7F50B0-0470-4649-97CA-922A2C075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409700"/>
            <a:ext cx="214312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03C891-C014-4766-BA3D-1CD9FD38C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1524000"/>
            <a:ext cx="1876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SQL hattı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A12BF9-5581-4689-A934-6358276A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1847850"/>
            <a:ext cx="18383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37083"/>
                </a:solidFill>
              </a:defRPr>
            </a:pPr>
            <a:r>
              <a:rPr sz="1050" b="0">
                <a:solidFill>
                  <a:srgbClr val="637083"/>
                </a:solidFill>
              </a:rPr>
              <a:t>Bağlam, plan, üretim, kontrol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3C8C18-3627-4B1F-B93D-828D834D8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428875"/>
            <a:ext cx="2143125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F897A6-4260-4FDB-9F13-7656DF40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543175"/>
            <a:ext cx="1876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Yardım cevabı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45A70D-DB44-45EC-B5D6-9F977D2B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867025"/>
            <a:ext cx="1838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37083"/>
                </a:solidFill>
              </a:defRPr>
            </a:pPr>
            <a:r>
              <a:rPr sz="1050" b="0">
                <a:solidFill>
                  <a:srgbClr val="637083"/>
                </a:solidFill>
              </a:rPr>
              <a:t>Veri sorgusu yok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0F2385-AC3A-4CC7-8E82-FC2D60AB7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333750"/>
            <a:ext cx="2143125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A34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752F51-DD6B-4889-8DF8-BB1FC968E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448050"/>
            <a:ext cx="1876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A34A"/>
                </a:solidFill>
              </a:defRPr>
            </a:pPr>
            <a:r>
              <a:rPr sz="1350" b="1">
                <a:solidFill>
                  <a:srgbClr val="16A34A"/>
                </a:solidFill>
              </a:rPr>
              <a:t>Sohbet cevabı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B22B628-B676-4BCC-9255-F89A9DCF6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771900"/>
            <a:ext cx="1838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37083"/>
                </a:solidFill>
              </a:defRPr>
            </a:pPr>
            <a:r>
              <a:rPr sz="1050" b="0">
                <a:solidFill>
                  <a:srgbClr val="637083"/>
                </a:solidFill>
              </a:rPr>
              <a:t>Veri sorgusu yok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443A83F-86D0-405D-838D-37F3A2553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238625"/>
            <a:ext cx="2143125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770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7BDD700-106C-477A-A8D0-5145A686D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4352925"/>
            <a:ext cx="1876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97706"/>
                </a:solidFill>
              </a:defRPr>
            </a:pPr>
            <a:r>
              <a:rPr sz="1350" b="1">
                <a:solidFill>
                  <a:srgbClr val="D97706"/>
                </a:solidFill>
              </a:rPr>
              <a:t>Açıklama isteği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93647AE-59FE-498E-B904-56D4B90E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4676775"/>
            <a:ext cx="1838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37083"/>
                </a:solidFill>
              </a:defRPr>
            </a:pPr>
            <a:r>
              <a:rPr sz="1050" b="0">
                <a:solidFill>
                  <a:srgbClr val="637083"/>
                </a:solidFill>
              </a:rPr>
              <a:t>Yanlış SQL denenmez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3DDA6C8-ECF2-4284-8F49-8483171AD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943100"/>
            <a:ext cx="857250" cy="0"/>
          </a:xfrm>
          <a:prstGeom xmlns:a="http://schemas.openxmlformats.org/drawingml/2006/main" prst="line">
            <a:avLst/>
          </a:prstGeom>
          <a:ln xmlns:a="http://schemas.openxmlformats.org/drawingml/2006/main" w="20955">
            <a:solidFill>
              <a:srgbClr val="0F766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4A98939-4073-421E-B630-F619FD314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485900"/>
            <a:ext cx="11239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361AF97-A82A-4C80-86DA-3D1CD1A93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16002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Rapor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9029759-4AD1-45EE-88B2-806EC5103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924050"/>
            <a:ext cx="819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37083"/>
                </a:solidFill>
              </a:defRPr>
            </a:pPr>
            <a:r>
              <a:rPr sz="1050" b="0">
                <a:solidFill>
                  <a:srgbClr val="637083"/>
                </a:solidFill>
              </a:rPr>
              <a:t>Sade sonuç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B2D575E-15D0-4A33-9AAC-AB3E5ADCB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562600"/>
            <a:ext cx="899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Bu yapı hatayı azaltır: sistem emin değilse SQL üretmeye zorlanmaz, kullanıcıdan daha net soru ister.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9E4FBB0-88DA-4CA1-87F5-A11C976DA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4650719-9294-440C-A4DC-DB49786C2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083"/>
                </a:solidFill>
              </a:defRPr>
            </a:pPr>
            <a:r>
              <a:rPr sz="900" b="0">
                <a:solidFill>
                  <a:srgbClr val="637083"/>
                </a:solidFill>
              </a:rPr>
              <a:t>ASM AI Agent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1377819-8C8A-4E7D-A0C9-5C165F90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37083"/>
                </a:solidFill>
              </a:defRPr>
            </a:pPr>
            <a:r>
              <a:rPr sz="900" b="0">
                <a:solidFill>
                  <a:srgbClr val="637083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098433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04C4D7-BF3E-4ED9-B01C-ED0008895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VERİ VE RAPOR TOPOLOJİSİ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419B3F-2643-45E9-AFFA-8E1B1741C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334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</a:defRPr>
            </a:pPr>
            <a:r>
              <a:rPr sz="2850" b="1">
                <a:solidFill>
                  <a:srgbClr val="172033"/>
                </a:solidFill>
              </a:rPr>
              <a:t>Veri topolojisi sorguyu daraltır, sonucu genişletir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0C23AB-4DEC-4EDC-8393-EF07E034A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714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6D6389-F4ED-4A25-B1F4-237CFF866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Doğal soru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10274F-12A7-4879-8442-6F9F7363D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37083"/>
                </a:solidFill>
              </a:defRPr>
            </a:pPr>
            <a:r>
              <a:rPr sz="1050" b="0">
                <a:solidFill>
                  <a:srgbClr val="637083"/>
                </a:solidFill>
              </a:rPr>
              <a:t>İnsan dili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1F3EFE-4FAA-4EAE-89B2-C0E7C05C9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838450"/>
            <a:ext cx="981075" cy="0"/>
          </a:xfrm>
          <a:prstGeom xmlns:a="http://schemas.openxmlformats.org/drawingml/2006/main" prst="line">
            <a:avLst/>
          </a:prstGeom>
          <a:ln xmlns:a="http://schemas.openxmlformats.org/drawingml/2006/main" w="20955">
            <a:solidFill>
              <a:srgbClr val="0F76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9295F9-4E58-46F9-8A92-AFFE51811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714500"/>
            <a:ext cx="2000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DB3699-E4F0-4D98-8812-E41871240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1828800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Sözlükler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51F254-6BED-4931-A83E-878FDD602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15265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37083"/>
                </a:solidFill>
              </a:defRPr>
            </a:pPr>
            <a:r>
              <a:rPr sz="1050" b="0">
                <a:solidFill>
                  <a:srgbClr val="637083"/>
                </a:solidFill>
              </a:rPr>
              <a:t>Metrik ve alan anlamları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B4ED39-4200-4FAF-8270-AA6192A5C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781300"/>
            <a:ext cx="2000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770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328F72-B1F0-4182-8254-6CC292993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895600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97706"/>
                </a:solidFill>
              </a:defRPr>
            </a:pPr>
            <a:r>
              <a:rPr sz="1350" b="1">
                <a:solidFill>
                  <a:srgbClr val="D97706"/>
                </a:solidFill>
              </a:rPr>
              <a:t>Bağlam hafızası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C009A0-6834-4B8F-853F-1F2B2DB07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21945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37083"/>
                </a:solidFill>
              </a:defRPr>
            </a:pPr>
            <a:r>
              <a:rPr sz="1050" b="0">
                <a:solidFill>
                  <a:srgbClr val="637083"/>
                </a:solidFill>
              </a:rPr>
              <a:t>Önceki filtreler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F2522E-6659-41A4-831A-65909E1BA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848100"/>
            <a:ext cx="2000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A3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73D6C3-0529-4318-A43F-EF2E6ADC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962400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A34A"/>
                </a:solidFill>
              </a:defRPr>
            </a:pPr>
            <a:r>
              <a:rPr sz="1350" b="1">
                <a:solidFill>
                  <a:srgbClr val="16A34A"/>
                </a:solidFill>
              </a:rPr>
              <a:t>Şema bilgisi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0989A2-4386-4BFC-AE23-AEC40B3FF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428625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37083"/>
                </a:solidFill>
              </a:defRPr>
            </a:pPr>
            <a:r>
              <a:rPr sz="1050" b="0">
                <a:solidFill>
                  <a:srgbClr val="637083"/>
                </a:solidFill>
              </a:rPr>
              <a:t>View ve kolonlar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20A00C-74A5-43CB-ADEE-99E8D4C2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124075"/>
            <a:ext cx="1095375" cy="733425"/>
          </a:xfrm>
          <a:prstGeom xmlns:a="http://schemas.openxmlformats.org/drawingml/2006/main" prst="line">
            <a:avLst/>
          </a:prstGeom>
          <a:ln xmlns:a="http://schemas.openxmlformats.org/drawingml/2006/main" w="20955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8DC0B9-24E9-4CAC-A28C-94810944D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190875"/>
            <a:ext cx="1095375" cy="-333375"/>
          </a:xfrm>
          <a:prstGeom xmlns:a="http://schemas.openxmlformats.org/drawingml/2006/main" prst="line">
            <a:avLst/>
          </a:prstGeom>
          <a:ln xmlns:a="http://schemas.openxmlformats.org/drawingml/2006/main" w="20955">
            <a:solidFill>
              <a:srgbClr val="D9770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BDBF6B-8EAF-435C-9E84-94DF6C2B8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257675"/>
            <a:ext cx="1095375" cy="-1400175"/>
          </a:xfrm>
          <a:prstGeom xmlns:a="http://schemas.openxmlformats.org/drawingml/2006/main" prst="line">
            <a:avLst/>
          </a:prstGeom>
          <a:ln xmlns:a="http://schemas.openxmlformats.org/drawingml/2006/main" w="20955">
            <a:solidFill>
              <a:srgbClr val="16A3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CE6580-95E8-4411-8FFF-7A45FBB5A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86000"/>
            <a:ext cx="19526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8B0E90-78A2-499D-BE0A-4E55FFB33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00300"/>
            <a:ext cx="1685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Query plan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A00A30-5D85-40FA-BF73-379411A4E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24150"/>
            <a:ext cx="16478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37083"/>
                </a:solidFill>
              </a:defRPr>
            </a:pPr>
            <a:r>
              <a:rPr sz="1050" b="0">
                <a:solidFill>
                  <a:srgbClr val="637083"/>
                </a:solidFill>
              </a:rPr>
              <a:t>Tarih, bölüm, sıralama ve limit sözleşmesi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40F0B7-9828-42F6-B75A-19526136D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857500"/>
            <a:ext cx="1000125" cy="-457200"/>
          </a:xfrm>
          <a:prstGeom xmlns:a="http://schemas.openxmlformats.org/drawingml/2006/main" prst="line">
            <a:avLst/>
          </a:prstGeom>
          <a:ln xmlns:a="http://schemas.openxmlformats.org/drawingml/2006/main" w="20955">
            <a:solidFill>
              <a:srgbClr val="0F766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CBE00C-F258-4A42-813B-21D46974E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857500"/>
            <a:ext cx="1000125" cy="476250"/>
          </a:xfrm>
          <a:prstGeom xmlns:a="http://schemas.openxmlformats.org/drawingml/2006/main" prst="line">
            <a:avLst/>
          </a:prstGeom>
          <a:ln xmlns:a="http://schemas.openxmlformats.org/drawingml/2006/main" w="20955">
            <a:solidFill>
              <a:srgbClr val="0F766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6363E6-891D-46CA-8222-03C89710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952625"/>
            <a:ext cx="1809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262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00C2F4-AC22-4933-AE85-3EA5DE350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066925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C2626"/>
                </a:solidFill>
              </a:defRPr>
            </a:pPr>
            <a:r>
              <a:rPr sz="1350" b="1">
                <a:solidFill>
                  <a:srgbClr val="DC2626"/>
                </a:solidFill>
              </a:rPr>
              <a:t>SQL validator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76956E-0B94-4179-8810-5D3D7D4CB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390775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37083"/>
                </a:solidFill>
              </a:defRPr>
            </a:pPr>
            <a:r>
              <a:rPr sz="1050" b="0">
                <a:solidFill>
                  <a:srgbClr val="637083"/>
                </a:solidFill>
              </a:rPr>
              <a:t>Güvenlik kapısı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E79D47-E06B-40F3-90C9-F9CF4E13D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86100"/>
            <a:ext cx="1809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36823B-324A-4E1E-9D5B-682B1805D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200400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Analitik motor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3D2031-CA8D-4D9A-B342-3A9D9BEAC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524250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37083"/>
                </a:solidFill>
              </a:defRPr>
            </a:pPr>
            <a:r>
              <a:rPr sz="1050" b="0">
                <a:solidFill>
                  <a:srgbClr val="637083"/>
                </a:solidFill>
              </a:rPr>
              <a:t>Trend ve KPI yorumu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43D31D-6522-43AB-B9FD-97A15890C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790825"/>
            <a:ext cx="0" cy="295275"/>
          </a:xfrm>
          <a:prstGeom xmlns:a="http://schemas.openxmlformats.org/drawingml/2006/main" prst="line">
            <a:avLst/>
          </a:prstGeom>
          <a:ln xmlns:a="http://schemas.openxmlformats.org/drawingml/2006/main" w="20955">
            <a:solidFill>
              <a:srgbClr val="0F766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45DCBF-C16B-4F29-8657-BAE0BC134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314950"/>
            <a:ext cx="9486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Daraltma tarafı güvenlik sağlar; genişletme tarafı ise ham tabloyu toplantıda anlatılabilir içgörüye dönüştürür.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687D97A-0CB5-4BAB-84E9-0F51DD202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8FAAB06-F797-4038-8259-E0BE6214C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083"/>
                </a:solidFill>
              </a:defRPr>
            </a:pPr>
            <a:r>
              <a:rPr sz="900" b="0">
                <a:solidFill>
                  <a:srgbClr val="637083"/>
                </a:solidFill>
              </a:rPr>
              <a:t>ASM AI Agent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35D957C-F32D-44C4-9A41-E4698BF75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37083"/>
                </a:solidFill>
              </a:defRPr>
            </a:pPr>
            <a:r>
              <a:rPr sz="900" b="0">
                <a:solidFill>
                  <a:srgbClr val="637083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297343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19422A-FCF9-4AD2-B356-618747B3E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GÜVENLİK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807C0A-A6E9-420D-B52B-3F7F7B4C8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334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</a:defRPr>
            </a:pPr>
            <a:r>
              <a:rPr sz="2850" b="1">
                <a:solidFill>
                  <a:srgbClr val="172033"/>
                </a:solidFill>
              </a:rPr>
              <a:t>Güvenlik tasarımı sistemin merkezinde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B3744A-0576-489B-BF83-7423C86D7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66900"/>
            <a:ext cx="2857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565098-175D-4D87-BD72-0A736C608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76450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766E"/>
                </a:solidFill>
              </a:defRPr>
            </a:pPr>
            <a:r>
              <a:rPr sz="2550" b="1">
                <a:solidFill>
                  <a:srgbClr val="0F766E"/>
                </a:solidFill>
              </a:rPr>
              <a:t>Tek 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2E035A-A139-4020-81F9-AD5A1F947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09850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083"/>
                </a:solidFill>
              </a:defRPr>
            </a:pPr>
            <a:r>
              <a:rPr sz="1275" b="0">
                <a:solidFill>
                  <a:srgbClr val="637083"/>
                </a:solidFill>
              </a:rPr>
              <a:t>Sorgulanabilir nesne: dbo.vw_RandevuRaporu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10F777-BBCE-4FC1-B120-83A5B26EA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66900"/>
            <a:ext cx="2857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07287D-5C1B-441E-94D1-9B082D7FD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076450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A34A"/>
                </a:solidFill>
              </a:defRPr>
            </a:pPr>
            <a:r>
              <a:rPr sz="2550" b="1">
                <a:solidFill>
                  <a:srgbClr val="16A34A"/>
                </a:solidFill>
              </a:rPr>
              <a:t>Read-only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7C010C-7944-4AC9-9725-5FA1A0264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09850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083"/>
                </a:solidFill>
              </a:defRPr>
            </a:pPr>
            <a:r>
              <a:rPr sz="1275" b="0">
                <a:solidFill>
                  <a:srgbClr val="637083"/>
                </a:solidFill>
              </a:rPr>
              <a:t>Sadece SELECT ve CTE desteklenir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790BED-9AA5-44C9-B131-B9BA97B4E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866900"/>
            <a:ext cx="2857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E0F668-047A-4534-91C0-30ABE36E7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076450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C2626"/>
                </a:solidFill>
              </a:defRPr>
            </a:pPr>
            <a:r>
              <a:rPr sz="2550" b="1">
                <a:solidFill>
                  <a:srgbClr val="DC2626"/>
                </a:solidFill>
              </a:rPr>
              <a:t>Validator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18FFF8-DAFD-4387-8623-C783BDA56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609850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083"/>
                </a:solidFill>
              </a:defRPr>
            </a:pPr>
            <a:r>
              <a:rPr sz="1275" b="0">
                <a:solidFill>
                  <a:srgbClr val="637083"/>
                </a:solidFill>
              </a:rPr>
              <a:t>DDL, DML, EXEC, çoklu sorgu ve yorumlar reddedilir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B7826E-E8F5-46B8-8165-FF1931C74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71950"/>
            <a:ext cx="971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Yani sistem kullanıcıya serbest SQL çalıştırma gücü vermez. Kullanıcının doğal dil sorusu, önce kurallarla sınırlandırılmış güvenli bir sorguya çevrilir.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8644A5-6D50-42FD-ACAB-7B7AD9D7B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1970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37083"/>
                </a:solidFill>
              </a:defRPr>
            </a:pPr>
            <a:r>
              <a:rPr sz="1575" b="0">
                <a:solidFill>
                  <a:srgbClr val="637083"/>
                </a:solidFill>
              </a:rPr>
              <a:t>Bu yaklaşım özellikle sağlık verisi gibi hassas alanlarda kritik: amaç hızlı analizdir, kontrolsüz veri erişimi değil.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29D6B2-BD7D-400F-9C6E-D085387B9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3EB036-2D15-4761-8D4D-2D8877F70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083"/>
                </a:solidFill>
              </a:defRPr>
            </a:pPr>
            <a:r>
              <a:rPr sz="900" b="0">
                <a:solidFill>
                  <a:srgbClr val="637083"/>
                </a:solidFill>
              </a:rPr>
              <a:t>ASM AI Agent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E4D4FF-6656-4B4C-86A3-DC82C2FAD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37083"/>
                </a:solidFill>
              </a:defRPr>
            </a:pPr>
            <a:r>
              <a:rPr sz="900" b="0">
                <a:solidFill>
                  <a:srgbClr val="637083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131281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C654D9-8937-4F00-B07A-24990CC71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AJAN AKIŞI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A9F66B-CA5E-4B79-92D4-4A37D065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334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</a:defRPr>
            </a:pPr>
            <a:r>
              <a:rPr sz="2850" b="1">
                <a:solidFill>
                  <a:srgbClr val="172033"/>
                </a:solidFill>
              </a:rPr>
              <a:t>Ajan iş akışı soruyu kontrollü küçük adımlara böler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90E6F0-3041-4374-9CD8-98149C33A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110" y="2524125"/>
            <a:ext cx="4572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C90147-603B-4B77-A15B-C006C97A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2970" y="2524125"/>
            <a:ext cx="4572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17464F-6108-4CAC-8330-2F3226241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1830" y="2524125"/>
            <a:ext cx="4572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637B0A-46EA-4C7A-A5CE-63D819116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0690" y="2524125"/>
            <a:ext cx="4572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26CB4D-0E07-4D39-A0AD-35E4032E6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62125"/>
            <a:ext cx="185166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C542FD-41F5-474C-910F-5B3D2E807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15087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Niyeti anla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68E662-8FEE-42B5-AADD-C6090C378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71725"/>
            <a:ext cx="150876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37083"/>
                </a:solidFill>
              </a:defRPr>
            </a:pPr>
            <a:r>
              <a:rPr sz="1125" b="0">
                <a:solidFill>
                  <a:srgbClr val="637083"/>
                </a:solidFill>
              </a:rPr>
              <a:t>Soru rapor mu, yardım mı, sohbet mi?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743643-8A2F-4E8F-A641-69B2DD7B3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1310" y="1762125"/>
            <a:ext cx="185166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15D786-FDE7-4122-94BE-1110F847A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1952625"/>
            <a:ext cx="15087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Bağlamı getir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86A880-6C97-4A8F-9E5B-A6CD2F22E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2371725"/>
            <a:ext cx="150876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37083"/>
                </a:solidFill>
              </a:defRPr>
            </a:pPr>
            <a:r>
              <a:rPr sz="1125" b="0">
                <a:solidFill>
                  <a:srgbClr val="637083"/>
                </a:solidFill>
              </a:rPr>
              <a:t>İlgili tablo, metrik ve tarih bilgisi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C74263-1CA2-4BE8-8C27-45CE45D3E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1762125"/>
            <a:ext cx="185166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06E58B-629A-4F41-83EA-DDB1048BC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1620" y="1952625"/>
            <a:ext cx="15087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Plan kur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D9CAC5-354E-45FC-841F-D85D10F7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1620" y="2371725"/>
            <a:ext cx="150876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37083"/>
                </a:solidFill>
              </a:defRPr>
            </a:pPr>
            <a:r>
              <a:rPr sz="1125" b="0">
                <a:solidFill>
                  <a:srgbClr val="637083"/>
                </a:solidFill>
              </a:rPr>
              <a:t>Filtre, sıralama, dönem ve join sözleşmesi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10D55B-C492-4F13-85DA-C12C538E6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030" y="1762125"/>
            <a:ext cx="185166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9C4230-5DC1-4CD6-BFB4-655A41A1E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0480" y="1952625"/>
            <a:ext cx="15087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SQL üret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9C7DA4-F183-4D52-BAA7-82D9F2B09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0480" y="2371725"/>
            <a:ext cx="150876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37083"/>
                </a:solidFill>
              </a:defRPr>
            </a:pPr>
            <a:r>
              <a:rPr sz="1125" b="0">
                <a:solidFill>
                  <a:srgbClr val="637083"/>
                </a:solidFill>
              </a:rPr>
              <a:t>LLM sadece bu sözleşmeye göre üretir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A38217-843E-4B15-97A1-544C279AE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1762125"/>
            <a:ext cx="185166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D3E008-9BB2-4525-83C5-CC160EB4C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9340" y="1952625"/>
            <a:ext cx="15087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Kontrol 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ED6537-07B8-44A3-B6FF-8DF37994D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9340" y="2371725"/>
            <a:ext cx="150876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37083"/>
                </a:solidFill>
              </a:defRPr>
            </a:pPr>
            <a:r>
              <a:rPr sz="1125" b="0">
                <a:solidFill>
                  <a:srgbClr val="637083"/>
                </a:solidFill>
              </a:rPr>
              <a:t>Validator ve compliance kontrolü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067023-024D-4DA4-98A1-7758758C4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786313"/>
            <a:ext cx="4572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EAB624-C350-4C39-9678-768DE421C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86313"/>
            <a:ext cx="4572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C8B29F-E0FC-4844-8A2E-46BE0926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786313"/>
            <a:ext cx="4572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50A977-544F-4148-84E3-CF341E7C6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95750"/>
            <a:ext cx="197167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7AA323-D40C-4C5B-A82C-660AE9FFB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286250"/>
            <a:ext cx="1628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Çalıştır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4E1C89-90C3-4A36-95FF-AA80CA345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705350"/>
            <a:ext cx="16287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37083"/>
                </a:solidFill>
              </a:defRPr>
            </a:pPr>
            <a:r>
              <a:rPr sz="1125" b="0">
                <a:solidFill>
                  <a:srgbClr val="637083"/>
                </a:solidFill>
              </a:rPr>
              <a:t>Güvenli sorgu veritabanında okunur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3B9B23-957A-41E3-95C8-1843373E9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4095750"/>
            <a:ext cx="197167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0C2528-82CD-4A43-B49C-18AC790E8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4286250"/>
            <a:ext cx="1628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Analiz et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94933B-52CF-4D50-817F-D8069D87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4705350"/>
            <a:ext cx="16287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37083"/>
                </a:solidFill>
              </a:defRPr>
            </a:pPr>
            <a:r>
              <a:rPr sz="1125" b="0">
                <a:solidFill>
                  <a:srgbClr val="637083"/>
                </a:solidFill>
              </a:rPr>
              <a:t>Trend, karşılaştırma ve KPI çıkarılır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312C0A-CA3F-4BAE-9CCC-67844A2F2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95750"/>
            <a:ext cx="197167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4A63A9-ABA9-4DD3-95F5-37F465578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286250"/>
            <a:ext cx="1628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İçgörü üret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EA8D6F-E9FE-4BFC-B595-F6D8C4A96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05350"/>
            <a:ext cx="16287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37083"/>
                </a:solidFill>
              </a:defRPr>
            </a:pPr>
            <a:r>
              <a:rPr sz="1125" b="0">
                <a:solidFill>
                  <a:srgbClr val="637083"/>
                </a:solidFill>
              </a:rPr>
              <a:t>Kural tabanlı ve gerekirse LLM destekli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FD54E50-2A2D-4045-AF1F-4B86FC3E9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095750"/>
            <a:ext cx="197167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D620C2D-13BF-464D-8171-6D5536ED4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286250"/>
            <a:ext cx="1628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Raporla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A26743E-66AD-40F0-A539-1BEA1BAFE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705350"/>
            <a:ext cx="16287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37083"/>
                </a:solidFill>
              </a:defRPr>
            </a:pPr>
            <a:r>
              <a:rPr sz="1125" b="0">
                <a:solidFill>
                  <a:srgbClr val="637083"/>
                </a:solidFill>
              </a:rPr>
              <a:t>Kullanıcıya sade cevap döner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08A0149-7FD1-41BD-A2D8-D456CB30B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AC3AA8C-F192-4E40-8B2B-DA4792F0A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083"/>
                </a:solidFill>
              </a:defRPr>
            </a:pPr>
            <a:r>
              <a:rPr sz="900" b="0">
                <a:solidFill>
                  <a:srgbClr val="637083"/>
                </a:solidFill>
              </a:rPr>
              <a:t>ASM AI Agent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31FE81C-18C7-4901-B3CB-4E92670F5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37083"/>
                </a:solidFill>
              </a:defRPr>
            </a:pPr>
            <a:r>
              <a:rPr sz="900" b="0">
                <a:solidFill>
                  <a:srgbClr val="637083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0014227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7AA093-6DDE-461E-B431-22FA9DD5F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ÜRÜN YETENEKLERİ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4C6236-E553-4374-A2B2-82DE76A89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334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</a:defRPr>
            </a:pPr>
            <a:r>
              <a:rPr sz="2850" b="1">
                <a:solidFill>
                  <a:srgbClr val="172033"/>
                </a:solidFill>
              </a:rPr>
              <a:t>Sistem sadece cevap değil, yorumlanabilir analiz üretiyor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6B0BF0-EC06-4016-9B8C-70277622A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190875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696B14-123A-48C8-88FA-9D64BFC0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71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ACD5D2-5864-46BF-8D24-B29DB2C90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2733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Doğal dil raporlama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42E557-2D90-4154-8C97-2670D1B23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27336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83"/>
                </a:solidFill>
              </a:defRPr>
            </a:pPr>
            <a:r>
              <a:rPr sz="1350" b="0">
                <a:solidFill>
                  <a:srgbClr val="637083"/>
                </a:solidFill>
              </a:rPr>
              <a:t>Kullanıcı Türkçe sorar; sistem SQL, tablo ve tarih ayrıntılarını arka planda yönetir.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ABA7FA-7711-4D92-A63C-363C87D29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809750"/>
            <a:ext cx="3190875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B64371-32CC-47D6-ADE5-E834DA6EC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809750"/>
            <a:ext cx="571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79B1B7-DB40-40CD-A831-2D416F1D5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019300"/>
            <a:ext cx="2733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Analitik motor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F0F728-545E-47A8-A775-21122302D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419350"/>
            <a:ext cx="27336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83"/>
                </a:solidFill>
              </a:defRPr>
            </a:pPr>
            <a:r>
              <a:rPr sz="1350" b="0">
                <a:solidFill>
                  <a:srgbClr val="637083"/>
                </a:solidFill>
              </a:rPr>
              <a:t>Trend, dönem karşılaştırması, sıralama, dağılım ve temel KPI mantıkları ayrıştırılmıştır.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B689EC-238B-4E12-8E40-EFBD0265F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09750"/>
            <a:ext cx="3190875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446077-8105-4E1B-8337-75259303E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09750"/>
            <a:ext cx="571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B7F704-BECD-46F7-8E10-BAEDCABFD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19300"/>
            <a:ext cx="2733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İçgörü katmanı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007573-7E30-4242-9141-120208EC6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19350"/>
            <a:ext cx="27336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83"/>
                </a:solidFill>
              </a:defRPr>
            </a:pPr>
            <a:r>
              <a:rPr sz="1350" b="0">
                <a:solidFill>
                  <a:srgbClr val="637083"/>
                </a:solidFill>
              </a:rPr>
              <a:t>Sonuçlar kurallarla yorumlanır; düşük kanıtta LLM çağrısı yapılmadan güvenli cevap üretilir.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6A46D4-3F04-4323-A581-2E6811DD7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3190875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274FD1-7BB4-4F36-99F0-9FE39B188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571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D7E7DF-C2BC-498E-A5A8-C0DADB9EC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76700"/>
            <a:ext cx="2733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Konuşma bağlamı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C80EB2-C83B-4C68-B466-6B966112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27336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83"/>
                </a:solidFill>
              </a:defRPr>
            </a:pPr>
            <a:r>
              <a:rPr sz="1350" b="0">
                <a:solidFill>
                  <a:srgbClr val="637083"/>
                </a:solidFill>
              </a:rPr>
              <a:t>Takip sorularında önceki metrik, filtre ve dönem bilgisi izole session ile taşınır.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ADD6CD-A109-4854-92C6-B30CCE804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867150"/>
            <a:ext cx="3190875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D926FE-41F5-492B-9DA9-F003B32BF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867150"/>
            <a:ext cx="571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535950-45CB-4086-90FF-4EE2F208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076700"/>
            <a:ext cx="2733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Canlı ilerleme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B88E5C-EB65-4179-AF83-51BFC8FCB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476750"/>
            <a:ext cx="27336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83"/>
                </a:solidFill>
              </a:defRPr>
            </a:pPr>
            <a:r>
              <a:rPr sz="1350" b="0">
                <a:solidFill>
                  <a:srgbClr val="637083"/>
                </a:solidFill>
              </a:rPr>
              <a:t>Stream endpoint gerçek iş akışı aşamalarını kullanıcı arayüzüne aktarır.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C1229D-D778-4173-B72A-23AEFEA23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67150"/>
            <a:ext cx="3190875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58A50C-84D4-453E-AF5C-C4B1F9B6D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67150"/>
            <a:ext cx="571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C85075-D15A-47A3-A5AB-41A6ECCA9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076700"/>
            <a:ext cx="2733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Sunuma uygun sonuç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18130A-982C-4794-9A83-2C1F71095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476750"/>
            <a:ext cx="27336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83"/>
                </a:solidFill>
              </a:defRPr>
            </a:pPr>
            <a:r>
              <a:rPr sz="1350" b="0">
                <a:solidFill>
                  <a:srgbClr val="637083"/>
                </a:solidFill>
              </a:rPr>
              <a:t>Frontend teknik SQL aliaslarını sade metrik adları ve okunur tablo/grafiklerle gösterir.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CF4D4F-201E-4B25-B764-053EE9D8E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3DF7B1-B849-4A29-B970-814CEDEBF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083"/>
                </a:solidFill>
              </a:defRPr>
            </a:pPr>
            <a:r>
              <a:rPr sz="900" b="0">
                <a:solidFill>
                  <a:srgbClr val="637083"/>
                </a:solidFill>
              </a:rPr>
              <a:t>ASM AI Agent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8EDD56-8681-47C1-BFA6-3A37ABA5E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37083"/>
                </a:solidFill>
              </a:defRPr>
            </a:pPr>
            <a:r>
              <a:rPr sz="900" b="0">
                <a:solidFill>
                  <a:srgbClr val="637083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3257363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717546-9E3C-48A6-A247-61864F5C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KANIT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17A469-DD85-4B6E-8DBC-90D91C7FF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334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</a:defRPr>
            </a:pPr>
            <a:r>
              <a:rPr sz="2850" b="1">
                <a:solidFill>
                  <a:srgbClr val="172033"/>
                </a:solidFill>
              </a:rPr>
              <a:t>Benchmark sonuçları ilk üretim adayı için güçlü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42e3e7b2724015"/>
          <a:stretch xmlns:a="http://schemas.openxmlformats.org/drawingml/2006/main"/>
        </p:blipFill>
        <p:spPr>
          <a:xfrm xmlns:a="http://schemas.openxmlformats.org/drawingml/2006/main">
            <a:off x="723900" y="1740694"/>
            <a:ext cx="4953000" cy="2786063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248c87d47648e6"/>
          <a:stretch xmlns:a="http://schemas.openxmlformats.org/drawingml/2006/main"/>
        </p:blipFill>
        <p:spPr>
          <a:xfrm xmlns:a="http://schemas.openxmlformats.org/drawingml/2006/main">
            <a:off x="6515100" y="1794272"/>
            <a:ext cx="4762500" cy="2678906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177A85-3D29-42D0-9623-344C45C29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95875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qwen3:8b benchmark çalışmasında %93,8 başarı oranı, 5,6 saniye ortalama iş akışı süresi ve %0 timeout verdi.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9E0503-EFBB-47AF-A740-CB77D69F3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81650"/>
            <a:ext cx="914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37083"/>
                </a:solidFill>
              </a:defRPr>
            </a:pPr>
            <a:r>
              <a:rPr sz="1350" b="0">
                <a:solidFill>
                  <a:srgbClr val="637083"/>
                </a:solidFill>
              </a:rPr>
              <a:t>Bu sonuç, yerel modelle kontrollü bir pilot senaryo için makul performans ve güvenilirlik seviyesine ulaşıldığını gösteriyor.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9C7AEF-4677-4310-B1B6-E99246825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AA58E8-609E-4C52-AC39-A042C931E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083"/>
                </a:solidFill>
              </a:defRPr>
            </a:pPr>
            <a:r>
              <a:rPr sz="900" b="0">
                <a:solidFill>
                  <a:srgbClr val="637083"/>
                </a:solidFill>
              </a:rPr>
              <a:t>ASM AI Agent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0FCCA3-2F7C-4D4F-909E-E827EAA96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37083"/>
                </a:solidFill>
              </a:defRPr>
            </a:pPr>
            <a:r>
              <a:rPr sz="900" b="0">
                <a:solidFill>
                  <a:srgbClr val="637083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1395473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1A559A-62CF-4AB4-A432-D1B216A97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DOĞRULAMA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4DB6E3-0E52-4223-9D73-A07EB47C6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334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</a:defRPr>
            </a:pPr>
            <a:r>
              <a:rPr sz="2850" b="1">
                <a:solidFill>
                  <a:srgbClr val="172033"/>
                </a:solidFill>
              </a:rPr>
              <a:t>Test kapsamı projenin riskli noktalarını koruyor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2A12CE-D987-4ACB-900E-30B371597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2952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5416F3-47A8-43B5-A201-6794CBAA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19300"/>
            <a:ext cx="249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A34A"/>
                </a:solidFill>
              </a:defRPr>
            </a:pPr>
            <a:r>
              <a:rPr sz="2550" b="1">
                <a:solidFill>
                  <a:srgbClr val="16A34A"/>
                </a:solidFill>
              </a:rPr>
              <a:t>1209 geçti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ECC19B-C4D1-49D2-A700-6C2E2EA4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52700"/>
            <a:ext cx="249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083"/>
                </a:solidFill>
              </a:defRPr>
            </a:pPr>
            <a:r>
              <a:rPr sz="1275" b="0">
                <a:solidFill>
                  <a:srgbClr val="637083"/>
                </a:solidFill>
              </a:rPr>
              <a:t>Backend testleri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63D79B-D610-4D49-9737-1C34BF785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809750"/>
            <a:ext cx="2952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60BD7C-36B5-481E-8277-7258D1E0E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019300"/>
            <a:ext cx="249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97706"/>
                </a:solidFill>
              </a:defRPr>
            </a:pPr>
            <a:r>
              <a:rPr sz="2550" b="1">
                <a:solidFill>
                  <a:srgbClr val="D97706"/>
                </a:solidFill>
              </a:rPr>
              <a:t>1 skipped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FBD1E7-39A9-4D72-BBE2-7916D5EA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552700"/>
            <a:ext cx="249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083"/>
                </a:solidFill>
              </a:defRPr>
            </a:pPr>
            <a:r>
              <a:rPr sz="1275" b="0">
                <a:solidFill>
                  <a:srgbClr val="637083"/>
                </a:solidFill>
              </a:rPr>
              <a:t>Harici MSSQL entegrasyon testi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7E5AFB-9184-4A1B-BAF2-739D8E57F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09750"/>
            <a:ext cx="2952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AF2E28-E657-43DE-A44E-CD1E6AEB5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019300"/>
            <a:ext cx="249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563EB"/>
                </a:solidFill>
              </a:defRPr>
            </a:pPr>
            <a:r>
              <a:rPr sz="2550" b="1">
                <a:solidFill>
                  <a:srgbClr val="2563EB"/>
                </a:solidFill>
              </a:rPr>
              <a:t>84 geçti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0A7833-4DE0-4A8E-9BD2-AB37A6DC3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552700"/>
            <a:ext cx="249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083"/>
                </a:solidFill>
              </a:defRPr>
            </a:pPr>
            <a:r>
              <a:rPr sz="1275" b="0">
                <a:solidFill>
                  <a:srgbClr val="637083"/>
                </a:solidFill>
              </a:rPr>
              <a:t>Frontend Vitest testleri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5C9ADA-70FD-4AC2-877C-488FCDA2A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05250"/>
            <a:ext cx="447675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E391E5-E53A-489B-BCF9-BBED94868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05250"/>
            <a:ext cx="571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4FE080-618F-419E-AFC4-54952774E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14800"/>
            <a:ext cx="401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Özellikle korunan alanlar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030515-99CA-46A3-BFE7-DB723CFB8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14850"/>
            <a:ext cx="4019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83"/>
                </a:solidFill>
              </a:defRPr>
            </a:pPr>
            <a:r>
              <a:rPr sz="1350" b="0">
                <a:solidFill>
                  <a:srgbClr val="637083"/>
                </a:solidFill>
              </a:rPr>
              <a:t>SQL güvenliği, şema koruması, niyet analizi, dönem karşılaştırmaları, analitik sonuçlar, streaming ve UI tablo/grafik sunumu.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00FEE3-CE01-4CA9-8F47-D33BF7E8B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05250"/>
            <a:ext cx="447675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D10F14-F476-413A-819B-A7FE9C1A7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05250"/>
            <a:ext cx="571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E332B2-EDCE-45AB-B605-E8D5F42BE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114800"/>
            <a:ext cx="401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Çalışma ağacı notu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37B95F-2654-42E6-AEF2-47AB4D75C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514850"/>
            <a:ext cx="4019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83"/>
                </a:solidFill>
              </a:defRPr>
            </a:pPr>
            <a:r>
              <a:rPr sz="1350" b="0">
                <a:solidFill>
                  <a:srgbClr val="637083"/>
                </a:solidFill>
              </a:rPr>
              <a:t>Depoda mevcut geliştirme değişiklikleri var. Sunum bu anlık durumu anlatır; commit öncesi son diff ve regression kontrolü ayrıca yapılmalı.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F32E64-95AE-4749-9C95-FD022F067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8A4106-FEE0-4152-831F-522280550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083"/>
                </a:solidFill>
              </a:defRPr>
            </a:pPr>
            <a:r>
              <a:rPr sz="900" b="0">
                <a:solidFill>
                  <a:srgbClr val="637083"/>
                </a:solidFill>
              </a:rPr>
              <a:t>ASM AI Agent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AD4DAB-69F1-43D8-A2D7-2C3CBB2A9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37083"/>
                </a:solidFill>
              </a:defRPr>
            </a:pPr>
            <a:r>
              <a:rPr sz="900" b="0">
                <a:solidFill>
                  <a:srgbClr val="637083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3172154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CDC49A-BD9A-43CB-B4BE-EFA7D0E61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DURUM ÖZETİ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1A73AF-8ABE-4509-B381-B012A7D21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334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</a:defRPr>
            </a:pPr>
            <a:r>
              <a:rPr sz="2850" b="1">
                <a:solidFill>
                  <a:srgbClr val="172033"/>
                </a:solidFill>
              </a:rPr>
              <a:t>Bugünkü proje durumu: çekirdek akış çalışıyor, pilot için toparlama gerekiyor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CA510C-CF96-4719-A71B-EC165E2F9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3333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ACE39C-FFC2-41CD-8341-2AB95DC77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C101F1-F09E-4DE3-87A5-4C89F9E4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Tamamlanmış güçlü taraflar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946C84-C362-41C8-BB2F-A897DD8AB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28765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83"/>
                </a:solidFill>
              </a:defRPr>
            </a:pPr>
            <a:r>
              <a:rPr sz="1350" b="0">
                <a:solidFill>
                  <a:srgbClr val="637083"/>
                </a:solidFill>
              </a:rPr>
              <a:t>Katmanlı mimari, güvenli SQL validator, query planner, analitik motor, içgörü üretimi, streaming endpoint ve sadeleştirilmiş frontend sunumu hazır.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B34649-69C7-4C16-9CC0-5F3D213D8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790700"/>
            <a:ext cx="3333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316FCA-02E7-4EB5-AA59-91F52B3FC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79070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94F3DD-C0A8-4008-AD62-B570EC48B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002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Dikkat isteyen noktalar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545A41-D5C5-4E82-A604-E56F176F7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00300"/>
            <a:ext cx="28765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83"/>
                </a:solidFill>
              </a:defRPr>
            </a:pPr>
            <a:r>
              <a:rPr sz="1350" b="0">
                <a:solidFill>
                  <a:srgbClr val="637083"/>
                </a:solidFill>
              </a:rPr>
              <a:t>Çalışma ağacı temiz değil. MSSQL canlı izinleri, model servislerinin erişilebilirliği ve production konfigürasyonu toplantı öncesi netleştirilmeli.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CCD4DB-FDF9-43BA-9F8C-ED553FB15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90700"/>
            <a:ext cx="3333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7E3861-54D9-4DD6-9621-CBB190591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9070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F60BD1-141A-4BA1-A3EF-FD1A7649E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002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Toplantıda verilecek mesaj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D3BFF5-556B-4BFE-89BD-8A7E86BC8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00300"/>
            <a:ext cx="28765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83"/>
                </a:solidFill>
              </a:defRPr>
            </a:pPr>
            <a:r>
              <a:rPr sz="1350" b="0">
                <a:solidFill>
                  <a:srgbClr val="637083"/>
                </a:solidFill>
              </a:rPr>
              <a:t>Bu artık sadece demo fikri değil; testleri, güvenlik kapıları ve ölçülmüş performansı olan çalışan bir raporlama ajanı.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DA3258-1C48-488E-828C-AAE0646E2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10100"/>
            <a:ext cx="9677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En sade anlatım: Sistem, kurum verisini bilen bir asistan gibi davranır; ama cevap vermeden önce her adımı kurallarla kontrol eder.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B57921-76BE-4E93-9004-90FA7C6D5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6AEC27-1964-49A0-B9EA-3352F97C3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083"/>
                </a:solidFill>
              </a:defRPr>
            </a:pPr>
            <a:r>
              <a:rPr sz="900" b="0">
                <a:solidFill>
                  <a:srgbClr val="637083"/>
                </a:solidFill>
              </a:rPr>
              <a:t>ASM AI Agent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12164A-B1B9-4C6C-8809-939A9FDF0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37083"/>
                </a:solidFill>
              </a:defRPr>
            </a:pPr>
            <a:r>
              <a:rPr sz="900" b="0">
                <a:solidFill>
                  <a:srgbClr val="637083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81052143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88E279-BDC1-42D5-9FC3-FA1F3183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SONRAKİ ADIMLAR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528C01-6916-499A-B434-525BC2AD3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334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</a:defRPr>
            </a:pPr>
            <a:r>
              <a:rPr sz="2850" b="1">
                <a:solidFill>
                  <a:srgbClr val="172033"/>
                </a:solidFill>
              </a:rPr>
              <a:t>Toplantıdan sonra odak, pilot güvenilirliğini artırmak olmalı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726CED-5AC5-45E4-95A4-A1AD869C3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847975"/>
            <a:ext cx="4572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394A05-7653-4849-8B68-109A7F33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847975"/>
            <a:ext cx="4572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62E261-FE6F-4E24-B1B3-F79109D3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847975"/>
            <a:ext cx="4572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AE857D-CC94-4ACB-B875-1FA3B4550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2295525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B5EEB2-2CA5-4E68-8D34-6D03D5C55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9075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1. Kapsam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DC3BFA-B95C-4369-9ADB-87F32AF84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09850"/>
            <a:ext cx="1952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37083"/>
                </a:solidFill>
              </a:defRPr>
            </a:pPr>
            <a:r>
              <a:rPr sz="1125" b="0">
                <a:solidFill>
                  <a:srgbClr val="637083"/>
                </a:solidFill>
              </a:rPr>
              <a:t>Pilot kullanıcı soruları ve başarı kriterleri seçilir.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31BBDA-4D64-46C6-8CA9-F618DD32E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000250"/>
            <a:ext cx="2295525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36F929-60F2-403D-9C5A-2800E889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19075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2. Ortam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A0F505-6077-47BD-8FA1-5E9FC4899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609850"/>
            <a:ext cx="1952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37083"/>
                </a:solidFill>
              </a:defRPr>
            </a:pPr>
            <a:r>
              <a:rPr sz="1125" b="0">
                <a:solidFill>
                  <a:srgbClr val="637083"/>
                </a:solidFill>
              </a:rPr>
              <a:t>MSSQL, ODBC, Ollama ve opsiyonel remote provider netleştirilir.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353A59-0602-41DD-AA07-8F678904F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00250"/>
            <a:ext cx="2295525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B49FB1-970A-4028-A6A7-861F9B19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19075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3. Veri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12C9BD-F6F2-4CB4-9559-41602D142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09850"/>
            <a:ext cx="1952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37083"/>
                </a:solidFill>
              </a:defRPr>
            </a:pPr>
            <a:r>
              <a:rPr sz="1125" b="0">
                <a:solidFill>
                  <a:srgbClr val="637083"/>
                </a:solidFill>
              </a:rPr>
              <a:t>İzinli view, kolon anlamları ve metrik kataloğu kilitlenir.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7662CC-C492-4F98-963B-3C4814770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000250"/>
            <a:ext cx="2295525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39CABA-FD42-44DB-A3C9-D3124F0F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19075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4. Kabul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60970E-9615-442B-BB89-26518C7CD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609850"/>
            <a:ext cx="1952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37083"/>
                </a:solidFill>
              </a:defRPr>
            </a:pPr>
            <a:r>
              <a:rPr sz="1125" b="0">
                <a:solidFill>
                  <a:srgbClr val="637083"/>
                </a:solidFill>
              </a:rPr>
              <a:t>Canlı veriyle örnek soru seti çalıştırılır.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08CD48-491C-4DE1-A02E-17904DDC3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4000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3939D0-E7B0-4916-B707-1BA6A15E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571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2B1BAF-7F60-4E4D-AC8C-C23B135C7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64820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Karar ihtiyacı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706221-E351-46AB-B7B0-1A50CCD5F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048250"/>
            <a:ext cx="3543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83"/>
                </a:solidFill>
              </a:defRPr>
            </a:pPr>
            <a:r>
              <a:rPr sz="1350" b="0">
                <a:solidFill>
                  <a:srgbClr val="637083"/>
                </a:solidFill>
              </a:rPr>
              <a:t>Pilot hangi kullanıcı grubu ve hangi rapor senaryolarıyla başlayacak?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8BCB55-88BE-41CF-9A59-43860078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38650"/>
            <a:ext cx="4000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14E7AC-E911-4B8F-A373-A4133C983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38650"/>
            <a:ext cx="571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560666-98C5-4BB7-A6F0-B825C5F0E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4820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Teknik ihtiyaç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8AD36E-1780-43D6-BE4C-FF0B53D4D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048250"/>
            <a:ext cx="3543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83"/>
                </a:solidFill>
              </a:defRPr>
            </a:pPr>
            <a:r>
              <a:rPr sz="1350" b="0">
                <a:solidFill>
                  <a:srgbClr val="637083"/>
                </a:solidFill>
              </a:rPr>
              <a:t>Production ortamında güvenli config, loglama ve model erişimi doğrulanmalı.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546296-1588-4994-84FA-AD50C403E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E09D5E-D308-4147-A25D-5C2F36A37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083"/>
                </a:solidFill>
              </a:defRPr>
            </a:pPr>
            <a:r>
              <a:rPr sz="900" b="0">
                <a:solidFill>
                  <a:srgbClr val="637083"/>
                </a:solidFill>
              </a:rPr>
              <a:t>ASM AI Agent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0EBAF1-7025-4444-B2AE-9293EE2AB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37083"/>
                </a:solidFill>
              </a:defRPr>
            </a:pPr>
            <a:r>
              <a:rPr sz="900" b="0">
                <a:solidFill>
                  <a:srgbClr val="637083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4195062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2026-07-22T06:50:48.9370000Z</dcterms:created>
  <dcterms:modified xsi:type="dcterms:W3CDTF">2026-07-22T06:50:48.9370000Z</dcterms:modified>
</coreProperties>
</file>